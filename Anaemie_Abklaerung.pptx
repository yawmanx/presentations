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Anämie Abklärung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Systematische Diagnostik und Differentialdiagnose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Definition und Epidemiologie der Anämie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Klinische Symptomatik und Anamnese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Labordiagnostik: Basisuntersuchungen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Einteilung nach MCV (mikrozytär, normozytär, makrozytär)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Retikulozyten und Erythropoese-Bewertung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Eisenstoffwechsel-Diagnostik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Differentialdiagnosen nach Anämietyp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Algorithmus zur systematischen Abklärung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Spezielle Untersuchungen und Knochenmarkdiagnostik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 Grundlagen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Definition der 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Verminderung der Hämoglobinkonzentration, des Hämatokrits oder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der Erythrozytenzahl unter die alters- und geschlechtsspezifische Norm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WHO-Grenzwerte für Hämoglobin: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Männer: &lt; 13 g/dL (&lt; 130 g/L)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Frauen: &lt; 12 g/dL (&lt; 120 g/L)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Schwangere: &lt; 11 g/dL (&lt; 110 g/L)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Kinder (6 Mo-6 J): &lt; 11 g/dL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Cave: Pseudoanämie bei Hämodilution (Schwangerschaft, Hyperhydratation)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Cave: Maskierte Anämie bei Dehydratation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Epidemiologie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Weltweit häufigste hämatologische Störung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Prävalenz: ~25% der Weltbevölkerung betroffen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Häufigste Ursachen: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Eisenmangelanämie (50% aller Anämien weltweit)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Anämie bei chronischer Erkrankung (ACD/ACI)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Vitamin-B12- und Folsäuremangel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Risikogruppen: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Frauen im gebärfähigen Alter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Schwangere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Ältere Menschen (&gt; 65 Jahre)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Patienten mit chronischen Erkrankungen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2. Klinische Präsentation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Klinische Symptomatik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Allgemeine Symptome: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Müdigkeit, Abgeschlagenheit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Leistungsminderung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Dyspnoe (initial bei Belastung)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Tachykardie, Palpitationen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Blässe (Konjunktiven, Handlinien)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Kopfschmerzen, Schwindel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Konzentrationsstörungen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Spezifische Zeichen: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Glossitis, Mundwinkelrhagaden (Eisenmangel)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Hunter-Glossitis (Vit. B12-Mangel)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Koilonychie (Löffelnägel)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Ikterus (Hämolyse)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Petechien (bei Panzytopenie)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Pica-Syndrom (Eisenmangel)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Neurologische Symptome (B12-Mangel)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Gezielte Anamnese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Ernährung: Vegetarisch/vegan? Einseitige Ernährung?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Blutungsanamnese: Menstruation, GI-Blutungen, Hämaturie?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Medikamente: NSAR, Antikoagulantien, Chemotherapie?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Vorerkrankungen: Niereninsuffizienz, Malignome, Autoimmunerkrankungen?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Operationen: Gastrektomie, Darmresektionen?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Familienanamnese: Hämoglobinopathien, hereditäre Sphärozytose?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Reiseanamnese: Malaria-Endemiegebiete?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Alkohol- und Drogenkonsum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Symptom-Dynamik: Akut vs. chronisch?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3. Labordiagnostik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Basisdiagnostik – Blutbild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Großes Blutbild (obligat):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Hämoglobin (Hb), Hämatokrit (Hkt)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Erythrozytenzahl (RBC)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MCV (Mean Corpuscular Volume) – Schlüsselparameter!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MCH (Mean Corpuscular Hemoglobin)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MCHC (Mean Corpuscular Hemoglobin Concentration)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RDW (Red Cell Distribution Width)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Retikulozyten (absolut und relativ)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Zusätzlich immer: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Leukozyten und Differentialblutbild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Thrombozyten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Blutausstrich (manuell!)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Einteilung nach MCV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MCV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Klassifikation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Häufige Ursachen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&lt; 80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Mikrozytär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Eisenmangel, Thalassämie, ACD, Sideroblastische Anämie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80-100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Normozytär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Akute Blutung, ACD, Niereninsuffizienz, Hämolyse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&gt; 100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Makrozytär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B12/Folsäure-Mangel, MDS, Alkohol, Hypothyreose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Retikulozyten – Schlüssel zur Differenzierung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Retikulozyten: Junge Erythrozyten (0,5-2% oder 25.000-75.000/μL)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Retikulozytenproduktionsindex (RPI):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RPI = Retikulozyten (%) × (Hkt Patient / Hkt Normal) / Reifungszeit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RPI &gt; 2-3: Adäquate Knochenmarkreaktion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RPI &lt; 2: Inadäquate Knochenmarkreaktion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Interpretation: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↑ Retikulozyten: Hämolyse, Blutung, Therapieansprechen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↓ Retikulozyten: Produktionsstörung (Eisen-, B12-, Folsäuremangel,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aplastische Anämie, Knochenmarkinfiltration)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4. Eisenstoffwechsel-Diagnostik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Eisenstoffwechsel-Parameter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Ferritin: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Speichereisen-Marker, Akute-Phase-Protein!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&lt; 30 μg/L: Eisenmangel sehr wahrscheinlich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&lt; 100 μg/L + CRP↑: Eisenmangel bei Entzündung möglich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Transferrin und Transferrinsättigung (TSAT):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TSAT &lt; 20%: Funktioneller Eisenmangel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TSAT &lt; 16%: Absoluter Eisenmangel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Löslicher Transferrinrezeptor (sTfR):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Nicht durch Entzündung beeinflusst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↑ bei Eisenmangel und gesteigerter Erythropoese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Differentialdiagnose Eisenstoffwechsel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Eisenmangel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ACD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ACD + Eisenmangel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Thalassämie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Ferritin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↑/Normal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↓/Normal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Normal/↑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Transferrin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↓/Normal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Normal/↑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sTfR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↑↑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Eisen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Normal/↑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5. Mikrozytäre Anämien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Eisenmangelanämie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Häufigste Anämieform weltweit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Ursachen: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Chronischer Blutverlust (GI-Trakt, Menstruation)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Mangelernährung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Malabsorption (Zöliakie, Magenresektion, PPI)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Erhöhter Bedarf (Schwangerschaft, Wachstum)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Labor: MCV↓, MCH↓, Ferritin↓↓, TSAT↓, sTfR↑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Bei Eisenmangelanämie IMMER Ursachensuche!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Frauen: Gynäkologische Abklärung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Männer/Postmenopausale Frauen: Obligate GI-Diagnostik!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Thalassämien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Hereditäre Hämoglobinopathien mit reduzierter Globinkettensynthese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α-Thalassämie: Verminderte α-Kettensynthese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β-Thalassämie: Verminderte β-Kettensynthese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Labor: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MCV↓↓ (oft &lt; 70 fL), MCH↓↓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Erythrozytenzahl normal bis ↑ (wichtiges DD-Kriterium!)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Ferritin normal/↑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Diagnostik: Hb-Elektrophorese/HPLC, Molekulargenetik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Mentzer-Index: MCV/Ery-Zahl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&lt; 13: Thalassämie wahrscheinlich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&gt; 13: Eisenmangel wahrscheinlich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6. Normozytäre Anämien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Differentialdiagnosen normozytäre 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Hypoproliferative (Reti ↓):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Anämie chronischer Erkrankung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Renale Anämie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Endokrine Störungen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Knochenmarkerkrankungen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Aplastische Anämie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Medikamentös-toxisch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Frühe Eisenmangel-/B12-Mangel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Hyperproliferative (Reti ↑):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Akute Blutung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Hämolyse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Autoimmun (AIHA)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Mechanisch (TMA, Herzklappen)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Hereditär (Sphärozytose)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Infektiös (Malaria)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Therapieansprechen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Anämie bei chronischer Erkrankung (ACD/ACI)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Zweithäufigste Anämieform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Pathophysiologie: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Hepcidin↑ durch Entzündungszytokine (IL-6)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Funktionelle Eisensequestrierung im RES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Verminderte EPO-Produktion und -Ansprechen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Assoziierte Erkrankungen: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Chronische Infektionen, Autoimmunerkrankungen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Malignome, Chronische Nierenerkrankung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Labor: Ferritin↑/normal, Transferrin↓, TSAT↓, CRP↑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Cave: Kombination mit Eisenmangel häufig!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Hämolytische Anämien – Diagnostik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Hämolyse-Parameter (obligat):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LDH↑↑, Haptoglobin↓↓, indirektes Bilirubin↑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Retikulozyten↑↑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Direkter Coombs-Test (DAT):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Positiv: Autoimmunhämolyse (AIHA), Transfusionsreaktion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Negativ: Nicht-immunologische Hämolyse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Blutausstrich: Fragmentozyten, Sphärozyten, Targetzellen?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Spezialdiagnostik nach Befund: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Osmotische Resistenz, Durchflusszytometrie (PNH)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Hb-Elektrophorese, Enzymbestimmungen (G6PD)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7. Makrozytäre Anämien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Einteilung makrozytärer Anämien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Megaloblastär: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Vitamin-B12-Mangel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Perniziöse Anämie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Malabsorption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Streng vegane Ernährung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Folsäuremangel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Mangelernährung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Alkoholismus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- Malabsorption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Medikamente (MTX, Hydroxyurea)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Nicht-megaloblastär: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Alkoholabusus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Lebererkrankungen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Hypothyreose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MDS (Myelodysplastische Syndrome)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Retikulozytose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Aplastische Anämie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Multiples Myelom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Vitamin B12 und Folsäure – Diagnostik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Vitamin B12 (Cobalamin):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&lt; 200 pg/mL: Mangel wahrscheinlich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200-300 pg/mL: Graubereich – weitere Diagnostik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Bestätigung: Methylmalonsäure↑, Homocystein↑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Folsäure: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Serum-Folsäure &lt; 3 ng/mL: Mangel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Erythrozyten-Folsäure: Langzeitparameter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Differenzierung wichtig (neurologische Symptome nur bei B12!):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B12-Mangel: MMA↑, Homocystein↑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Folsäure-Mangel: MMA normal, Homocystein↑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Bei perniziöser Anämie: Intrinsic-Factor-Ak, Parietalzell-Ak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8. Diagnostik-Algorithmus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Stufendiagnostik – 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Stufe 1: Basisdiagnostik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Großes Blutbild mit Retikulozyten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Blutausstrich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Stufe 2: Erweiterte Labordiagnostik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Eisenstatus (Ferritin, Transferrin, TSAT)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Hämolyse-Parameter (LDH, Haptoglobin, Bilirubin)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Vitamin B12, Folsäure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Nierenwerte, Leberwerte, CRP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Stufe 3: Spezialdiagnostik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Coombs-Test, Hb-Elektrophorese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EPO-Spiegel, sTfR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Knochenmarkpunktion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Algorithmus: Mikrozytäre 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MCV &lt; 80 fL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Eisenstatus (Ferritin, TSAT)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┌─────────────────────┬──────────────────────┐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Ferritin↓, TSAT↓      │  Ferritin N/↑, TSAT 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↓                │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EISENMANGEL           │  Hb-Elektrophorese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→ Ursachensuche!      │    ↓  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                 │ Abnorm      Normal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                 │    ↓  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                 │ THALASSÄMIE   ACD?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                 │              Sideroblastisch?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Algorithmus: Normozytäre 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MCV 80-100 fL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Retikulozyten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Retikulozyten ↑      │   Retikulozyten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↓               │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Hämolyse-Labor       │   Kreatinin, CRP?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(LDH, Hapto, Bili)   │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↓               │   ┌────────┬────────┐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Hämolyse JA/NEIN     │ Krea↑   CRP↑   Unauffällig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↓               │   ↓      ↓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→ BLUTUNG            │ RENAL   ACD    KM-Punktion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→ HÄMOLYSE (Coombs)  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Algorithmus: Makrozytäre Anämie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MCV &gt; 100 fL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Vitamin B12, Folsäure, Retikulozyten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┌─────────────────────┬──────────────────────┐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B12↓ oder Folsäure↓   │  B12 + Folsäure normal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↓                │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MEGALOBLASTÄR         │  Retikulozyten?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→ Ursache B12-Mangel  │    ↓  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(Perniziosa, Malabs)│  Reti↑      Reti normal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→ Ursache Folsäure    │    ↓           ↓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(Ernährung, Alkohol)│ Hämolyse?   KM-Punktion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                    │            (MDS? Aplasie?)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9. Spezialdiagnostik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Knochenmarkdiagnostik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Indikationen: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Ungeklärte Bi-/Panzytopenie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V.a. hämatologische Systemerkrankung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Ungeklärte normozytäre Anämie mit inadäquater Retikulozytenreaktion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V.a. Knochenmarkinfiltration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Befunde: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Zellularität (hypo-, normo-, hyperzellulär)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Erythropoese (megaloblastär, dyserythropoetisch?)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Eisenspeicher (Berliner-Blau-Färbung)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Ringsideroblasten?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→ Infiltration durch maligne Zellen?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Zusätzlich: Zytogenetik, Molekulargenetik bei V.a. MDS/Leukämie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Weitere spezielle Untersuchungen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Bildgebung: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Gastroskopie/Koloskopie</a:t>
            </a:r>
          </a:p>
          <a:p>
            <a:pPr lvl="1"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(bei Eisenmangel obligat!)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Abdomen-Sonographie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CT bei V.a. Malignom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Spezifische Tests: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Durchflusszytometrie (PNH)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Osmotische Resistenz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Enzymbestimmungen (G6PD, PK)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Immunologische Diagnostik: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Direkter/indirekter Coombs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Kälte-/Wärmeagglutinine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IF-Antikörper, Parietalzell-Ak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Genetische Diagnostik: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Hb-Elektrophorese/HPLC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Molekulargenetik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  (Thalassämien, Sichelzell)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NGS-Panel bei V.a. hereditär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10. Zusammenfassung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Take 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MCV ist der Schlüsselparameter zur Einteilung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Retikulozyten unterscheiden Produktions- von Abbaustörung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Eisenmangel ist häufig – aber IMMER Ursache suchen!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An ACD denken bei chronischen Erkrankungen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Hämolyse-Trias: LDH↑ + Haptoglobin↓ + indir. Bilirubin↑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Makrozytose ohne B12/Folsäure-Mangel: MDS ausschließen!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Systematischer Algorithmus verhindert Fehldiagnosen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Weiterführende 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Harrison's Principles of Internal Medicine, 21st Edition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– Kapitel 59: Anemia and Polycythemia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  – Kapitel 93-98: Spezifische Anämieformen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Harrisons Innere Medizin (Deutsche Ausgabe)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DGHO Onkopedia Leitlinien – Anämie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WHO Guidelines on Haemoglobin Cutoffs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Herold: Innere Medizin – Hämatologie</a:t>
            </a: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</a:p>
          <a:p>
            <a:pPr>
              <a:spcAft>
                <a:spcPts val="1400"/>
              </a:spcAft>
              <a:defRPr sz="2200">
                <a:solidFill>
                  <a:srgbClr val="404040"/>
                </a:solidFill>
              </a:defRPr>
            </a:pPr>
            <a:r>
              <a:t>• Praktische Labordiagnostik (Thomas L.)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Vielen Dank!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